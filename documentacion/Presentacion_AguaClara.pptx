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1B43F39-36EC-478F-B181-45A9063DBD4E}" type="slidenum">
              <a:rPr lang="es-C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C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Raimundo · 15 s. Nuestro proyecto trabaja el ODS 6. Ya no nos enfocamos en cortes de agua de Maipú, sino en un escenario que calza directamente con nuestro prototipo: hogares rurales de Colina que usan pozos o norias y necesitan una señal simple sobre cambios básicos del agua.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643753-CAFA-452F-BAEB-75DDEE048862}" type="slidenum">
              <a: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Raimundo · 55 s. El 39,1% de las viviendas rurales de Colina usa pozos o norias. Además, el PACCC clasifica la exposición a inseguridad hídrica rural de Colina con 0,94 sobre 1, “muy alta”. El problema que planteamos no es afirmar contaminación: es que una fuente autónoma no entrega al hogar una lectura inmediata sobre cambios básicos de la muestra.</a:t>
            </a:r>
          </a:p>
        </p:txBody>
      </p:sp>
      <p:sp>
        <p:nvSpPr>
          <p:cNvPr id="2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690D5B-3FD2-47E1-AFE9-82577A1A14B0}" type="slidenum">
              <a: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Benjamín · 50 s. El gráfico muestra la estructura del abastecimiento rural: 55,17% red pública y 39,1% pozos o norias. El Censo 2024 registra 9.123 viviendas rurales en Colina. Esto hace que el escenario sea concreto y relevante. Además, Colina y Tiltil están desarrollando proyectos para fortalecer el agua rural, por lo que el tema sigue vigente.</a:t>
            </a:r>
          </a:p>
        </p:txBody>
      </p:sp>
      <p:sp>
        <p:nvSpPr>
          <p:cNvPr id="2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746718-5885-45AD-83B4-6DCB109ABC36}" type="slidenum">
              <a: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Benjamín · 45 s. Recorremos las 6W rápido. Importante: el “qué” es falta de una lectura inmediata sobre desviaciones, no “agua contaminada”. El “cómo” se manifiesta en que el usuario puede ver u oler el agua, pero no conoce al instante variables que sí se pueden medir con sensores.</a:t>
            </a:r>
          </a:p>
        </p:txBody>
      </p:sp>
      <p:sp>
        <p:nvSpPr>
          <p:cNvPr id="2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AC3F26-9A30-4DB5-9F0D-18D233E332A7}" type="slidenum">
              <a: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Andrés · 45 s. El usuario no necesita saber química. Necesita entender qué significa una lectura y qué hacer. Por eso el diseño se apoya en cuatro necesidades: entender, confiar, actuar y poder llevar el equipo. Esta parte es una hipótesis de diseño y la validaríamos con entrevistas a hogares rurales.</a:t>
            </a:r>
          </a:p>
        </p:txBody>
      </p:sp>
      <p:sp>
        <p:nvSpPr>
          <p:cNvPr id="2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DEC732-EF87-40F8-9EF7-23926F366744}" type="slidenum">
              <a: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Andrés · 45 s. Esta corrección es clave. Al principio hablábamos de un sensor de potabilidad. Investigando la NCh 409 vimos que la calidad del agua requiere controles microbiológicos, turbiedad, sustancias químicas y desinfección, entre otros. Por eso pH y conductividad no pueden certificar potabilidad: nuestro producto solo alerta sobre desviaciones de lo que sí mide.</a:t>
            </a:r>
          </a:p>
        </p:txBody>
      </p:sp>
      <p:sp>
        <p:nvSpPr>
          <p:cNvPr id="2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448707-649E-4D0D-88F9-2F23515E9657}" type="slidenum">
              <a: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José Tomás · 50 s. Acá mostramos la solución final. El usuario toma una muestra, el equipo mide pH y conductividad, traduce los números a un semáforo y orienta una acción. Esto mantiene nuestro brainstorm original, pero ahora el uso y el límite están bien definidos. No dice “agua potable”; dice si los parámetros medidos muestran o no una desviación.</a:t>
            </a:r>
          </a:p>
        </p:txBody>
      </p:sp>
      <p:sp>
        <p:nvSpPr>
          <p:cNvPr id="2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6D5D39-9CDA-427E-9B62-2C9CD106DDA9}" type="slidenum">
              <a: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José Tomás · 50 s. La implementación empieza validando usuario y parámetros, luego calibrando y probando, y recién después con un piloto. Comparado con laboratorio, medidor individual o filtro, Agua Clara no pretende reemplazarlos: cubre una brecha distinta, convertir mediciones rápidas en una señal entendible. Los actores clave son hogares, municipio, SSR, MOP y expertos. El concepto puede escalar a otras zonas rurales.</a:t>
            </a:r>
          </a:p>
        </p:txBody>
      </p:sp>
      <p:sp>
        <p:nvSpPr>
          <p:cNvPr id="2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C8AB7B-0B9C-41CB-BEC2-0FB4EB4F6D03}" type="slidenum">
              <a:rPr lang="es-CL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s-C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s-CL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C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1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58440" y="6400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39" b="1" u="none" strike="noStrike">
                <a:solidFill>
                  <a:srgbClr val="77DCE4"/>
                </a:solidFill>
                <a:effectLst/>
                <a:uFillTx/>
                <a:latin typeface="Aptos"/>
              </a:rPr>
              <a:t>ODS 6 · AGUA LIMPIA Y SANEAMIENTO</a:t>
            </a:r>
            <a:endParaRPr lang="es-CL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58440" y="1234440"/>
            <a:ext cx="51202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AGUA CLARA,</a:t>
            </a:r>
            <a:endParaRPr lang="es-CL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DECISIÓN SEGURA</a:t>
            </a:r>
            <a:endParaRPr lang="es-CL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85800" y="278892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000" b="1" u="none" strike="noStrike">
                <a:solidFill>
                  <a:srgbClr val="D8F7F8"/>
                </a:solidFill>
                <a:effectLst/>
                <a:uFillTx/>
                <a:latin typeface="Aptos"/>
              </a:rPr>
              <a:t>Alerta preliminar para hogares rurales de Colina que se abastecen desde pozos o norias.</a:t>
            </a:r>
            <a:endParaRPr lang="es-C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85800" y="3913560"/>
            <a:ext cx="3611520" cy="292320"/>
          </a:xfrm>
          <a:prstGeom prst="roundRect">
            <a:avLst>
              <a:gd name="adj" fmla="val 25000"/>
            </a:avLst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0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AVANCE #1 · PROBLEMÁTICA + CONCEPTUALIZACIÓN</a:t>
            </a:r>
            <a:endParaRPr lang="es-CL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85800" y="605340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>
                <a:solidFill>
                  <a:srgbClr val="BFD7DB"/>
                </a:solidFill>
                <a:effectLst/>
                <a:uFillTx/>
                <a:latin typeface="Aptos"/>
              </a:rPr>
              <a:t>Raimundo Liedloff · Benjamín Sotomayor · Andrés Ubilla · José Tomás Tabja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989320" y="567000"/>
            <a:ext cx="5577480" cy="5623200"/>
          </a:xfrm>
          <a:prstGeom prst="roundRect">
            <a:avLst>
              <a:gd name="adj" fmla="val 1967"/>
            </a:avLst>
          </a:prstGeom>
          <a:solidFill>
            <a:srgbClr val="EAF8FA"/>
          </a:solidFill>
          <a:ln w="12600">
            <a:solidFill>
              <a:srgbClr val="EA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/>
          <p:cNvPicPr/>
          <p:nvPr/>
        </p:nvPicPr>
        <p:blipFill>
          <a:blip r:embed="rId3"/>
          <a:stretch/>
        </p:blipFill>
        <p:spPr>
          <a:xfrm>
            <a:off x="6236280" y="822960"/>
            <a:ext cx="5083560" cy="340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Shape 7"/>
          <p:cNvSpPr/>
          <p:nvPr/>
        </p:nvSpPr>
        <p:spPr>
          <a:xfrm>
            <a:off x="6492240" y="4434840"/>
            <a:ext cx="4571640" cy="13255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080">
            <a:solidFill>
              <a:srgbClr val="CDE7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6720840" y="4681800"/>
            <a:ext cx="1508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¿QUÉ BUSCAMOS?</a:t>
            </a:r>
            <a:endParaRPr lang="es-CL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6720840" y="4992480"/>
            <a:ext cx="38858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4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Detectar desviaciones básicas en una muestra y orientar una acción; no certificar potabilidad.</a:t>
            </a:r>
            <a:endParaRPr lang="es-CL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67000" y="374760"/>
            <a:ext cx="5943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5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PROBLEMA</a:t>
            </a:r>
            <a:endParaRPr lang="es-C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567000" y="6473880"/>
            <a:ext cx="4114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TEI201 · Taller de Diseño en Ingeniería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8458200" y="6473880"/>
            <a:ext cx="29257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ODS 6 · Agua limpia y saneamiento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11475720" y="6473880"/>
            <a:ext cx="182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2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567000" y="694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1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En Colina, una parte importante de los hogares rurales depende de fuentes autónomas</a:t>
            </a:r>
            <a:endParaRPr lang="es-CL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58440" y="1664280"/>
            <a:ext cx="5166000" cy="4041360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914400" y="1901880"/>
            <a:ext cx="1691280" cy="292320"/>
          </a:xfrm>
          <a:prstGeom prst="roundRect">
            <a:avLst>
              <a:gd name="adj" fmla="val 25000"/>
            </a:avLst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03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PROBLEMA DEFINITIVO</a:t>
            </a:r>
            <a:endParaRPr lang="es-CL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914400" y="2359080"/>
            <a:ext cx="4571640" cy="133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82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Familias de sectores rurales de Colina utilizan una fuente que no entrega por sí misma una señal doméstica inmediata y comprensible sobre desviaciones en parámetros básicos del agua antes de usarla.</a:t>
            </a:r>
            <a:endParaRPr lang="es-CL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914400" y="4791240"/>
            <a:ext cx="4389120" cy="0"/>
          </a:xfrm>
          <a:prstGeom prst="line">
            <a:avLst/>
          </a:prstGeom>
          <a:ln w="1404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t" anchorCtr="1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914400" y="50018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2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Conexión ODS 6</a:t>
            </a:r>
            <a:endParaRPr lang="es-CL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2423160" y="49651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Información para un uso más seguro del agua en comunidades rurales.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6199560" y="1664280"/>
            <a:ext cx="528480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08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473880" y="1865520"/>
            <a:ext cx="1416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0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39,1%</a:t>
            </a:r>
            <a:endParaRPr lang="es-CL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8046720" y="1874520"/>
            <a:ext cx="306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2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de las viviendas rurales usa pozos o norias</a:t>
            </a:r>
            <a:endParaRPr lang="es-CL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6199560" y="3017520"/>
            <a:ext cx="5284800" cy="1078560"/>
          </a:xfrm>
          <a:prstGeom prst="roundRect">
            <a:avLst>
              <a:gd name="adj" fmla="val 8475"/>
            </a:avLst>
          </a:prstGeom>
          <a:solidFill>
            <a:srgbClr val="0A4150"/>
          </a:solidFill>
          <a:ln w="10080">
            <a:solidFill>
              <a:srgbClr val="0A41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6473880" y="3218760"/>
            <a:ext cx="1416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0,94 / 1</a:t>
            </a:r>
            <a:endParaRPr lang="es-CL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8046720" y="3227760"/>
            <a:ext cx="306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20" b="1" u="none" strike="noStrike">
                <a:solidFill>
                  <a:srgbClr val="D8F7F8"/>
                </a:solidFill>
                <a:effectLst/>
                <a:uFillTx/>
                <a:latin typeface="Aptos"/>
              </a:rPr>
              <a:t>índice de exposición a inseguridad hídrica rural · “muy alto”</a:t>
            </a:r>
            <a:endParaRPr lang="es-CL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6199560" y="4370760"/>
            <a:ext cx="528480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08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6473880" y="4572000"/>
            <a:ext cx="1416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0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41.974</a:t>
            </a:r>
            <a:endParaRPr lang="es-CL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8046720" y="4581000"/>
            <a:ext cx="306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2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habitantes rurales proyectados a 2035</a:t>
            </a:r>
            <a:endParaRPr lang="es-CL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585360" y="6163200"/>
            <a:ext cx="11018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6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Fuente: Municipalidad de Colina, PACCC 2025–2040, p. 62 (39,1%; índice 0,94; proyección rural 2035).</a:t>
            </a:r>
            <a:endParaRPr lang="es-CL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67000" y="374760"/>
            <a:ext cx="5943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5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INVESTIGACIÓN Y ANÁLISIS</a:t>
            </a:r>
            <a:endParaRPr lang="es-C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67000" y="6473880"/>
            <a:ext cx="4114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TEI201 · Taller de Diseño en Ingeniería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8458200" y="6473880"/>
            <a:ext cx="29257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ODS 6 · Agua limpia y saneamiento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11475720" y="6473880"/>
            <a:ext cx="182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3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567000" y="694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La dependencia de pozos y norias no es marginal</a:t>
            </a:r>
            <a:endParaRPr lang="es-CL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658440" y="1664280"/>
            <a:ext cx="6491880" cy="42516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914400" y="190188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4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Origen del agua en viviendas rurales de Colina</a:t>
            </a:r>
            <a:endParaRPr lang="es-C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914400" y="255132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Red pública</a:t>
            </a:r>
            <a:endParaRPr lang="es-C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2423160" y="2496240"/>
            <a:ext cx="4068720" cy="310680"/>
          </a:xfrm>
          <a:prstGeom prst="roundRect">
            <a:avLst>
              <a:gd name="adj" fmla="val 14706"/>
            </a:avLst>
          </a:prstGeom>
          <a:solidFill>
            <a:srgbClr val="E8F0F1"/>
          </a:solidFill>
          <a:ln w="12600">
            <a:solidFill>
              <a:srgbClr val="E8F0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2423160" y="2496240"/>
            <a:ext cx="3741120" cy="310680"/>
          </a:xfrm>
          <a:prstGeom prst="roundRect">
            <a:avLst>
              <a:gd name="adj" fmla="val 14706"/>
            </a:avLst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6583680" y="2514600"/>
            <a:ext cx="502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110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55,17%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914400" y="32277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Pozo / noria</a:t>
            </a:r>
            <a:endParaRPr lang="es-C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2423160" y="3173040"/>
            <a:ext cx="4068720" cy="310680"/>
          </a:xfrm>
          <a:prstGeom prst="roundRect">
            <a:avLst>
              <a:gd name="adj" fmla="val 14706"/>
            </a:avLst>
          </a:prstGeom>
          <a:solidFill>
            <a:srgbClr val="E8F0F1"/>
          </a:solidFill>
          <a:ln w="12600">
            <a:solidFill>
              <a:srgbClr val="E8F0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2423160" y="3173040"/>
            <a:ext cx="2651400" cy="310680"/>
          </a:xfrm>
          <a:prstGeom prst="roundRect">
            <a:avLst>
              <a:gd name="adj" fmla="val 14706"/>
            </a:avLst>
          </a:prstGeom>
          <a:solidFill>
            <a:srgbClr val="0A4150"/>
          </a:solidFill>
          <a:ln w="12600">
            <a:solidFill>
              <a:srgbClr val="0A41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6583680" y="3191400"/>
            <a:ext cx="502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110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39,10%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914400" y="39045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Camión aljibe</a:t>
            </a:r>
            <a:endParaRPr lang="es-C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8"/>
          <p:cNvSpPr/>
          <p:nvPr/>
        </p:nvSpPr>
        <p:spPr>
          <a:xfrm>
            <a:off x="2423160" y="3849480"/>
            <a:ext cx="4068720" cy="310680"/>
          </a:xfrm>
          <a:prstGeom prst="roundRect">
            <a:avLst>
              <a:gd name="adj" fmla="val 14706"/>
            </a:avLst>
          </a:prstGeom>
          <a:solidFill>
            <a:srgbClr val="E8F0F1"/>
          </a:solidFill>
          <a:ln w="12600">
            <a:solidFill>
              <a:srgbClr val="E8F0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9"/>
          <p:cNvSpPr/>
          <p:nvPr/>
        </p:nvSpPr>
        <p:spPr>
          <a:xfrm>
            <a:off x="2423160" y="3849480"/>
            <a:ext cx="241200" cy="310680"/>
          </a:xfrm>
          <a:prstGeom prst="roundRect">
            <a:avLst>
              <a:gd name="adj" fmla="val 18937"/>
            </a:avLst>
          </a:prstGeom>
          <a:solidFill>
            <a:srgbClr val="FFD06B"/>
          </a:solidFill>
          <a:ln w="12600">
            <a:solidFill>
              <a:srgbClr val="FFD0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6583680" y="3867840"/>
            <a:ext cx="502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1100" b="1" u="none" strike="noStrike">
                <a:solidFill>
                  <a:srgbClr val="FFD06B"/>
                </a:solidFill>
                <a:effectLst/>
                <a:uFillTx/>
                <a:latin typeface="Aptos"/>
              </a:rPr>
              <a:t>3,56%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914400" y="458100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Otras fuentes</a:t>
            </a:r>
            <a:endParaRPr lang="es-C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2"/>
          <p:cNvSpPr/>
          <p:nvPr/>
        </p:nvSpPr>
        <p:spPr>
          <a:xfrm>
            <a:off x="2423160" y="4526280"/>
            <a:ext cx="4068720" cy="310680"/>
          </a:xfrm>
          <a:prstGeom prst="roundRect">
            <a:avLst>
              <a:gd name="adj" fmla="val 14706"/>
            </a:avLst>
          </a:prstGeom>
          <a:solidFill>
            <a:srgbClr val="E8F0F1"/>
          </a:solidFill>
          <a:ln w="12600">
            <a:solidFill>
              <a:srgbClr val="E8F0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3"/>
          <p:cNvSpPr/>
          <p:nvPr/>
        </p:nvSpPr>
        <p:spPr>
          <a:xfrm>
            <a:off x="2423160" y="4526280"/>
            <a:ext cx="146880" cy="310680"/>
          </a:xfrm>
          <a:prstGeom prst="roundRect">
            <a:avLst>
              <a:gd name="adj" fmla="val 31067"/>
            </a:avLst>
          </a:prstGeom>
          <a:solidFill>
            <a:srgbClr val="FF6F6F"/>
          </a:solidFill>
          <a:ln w="12600">
            <a:solidFill>
              <a:srgbClr val="FF6F6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6583680" y="4544640"/>
            <a:ext cx="5025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1100" b="1" u="none" strike="noStrike">
                <a:solidFill>
                  <a:srgbClr val="FF6F6F"/>
                </a:solidFill>
                <a:effectLst/>
                <a:uFillTx/>
                <a:latin typeface="Aptos"/>
              </a:rPr>
              <a:t>2,17%</a:t>
            </a:r>
            <a:endParaRPr lang="es-C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6"/>
          <p:cNvSpPr/>
          <p:nvPr/>
        </p:nvSpPr>
        <p:spPr>
          <a:xfrm>
            <a:off x="7479720" y="1664280"/>
            <a:ext cx="4004640" cy="1170000"/>
          </a:xfrm>
          <a:prstGeom prst="roundRect">
            <a:avLst>
              <a:gd name="adj" fmla="val 7813"/>
            </a:avLst>
          </a:prstGeom>
          <a:solidFill>
            <a:srgbClr val="0A4150"/>
          </a:solidFill>
          <a:ln w="10080">
            <a:solidFill>
              <a:srgbClr val="0A41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7"/>
          <p:cNvSpPr/>
          <p:nvPr/>
        </p:nvSpPr>
        <p:spPr>
          <a:xfrm>
            <a:off x="7790760" y="190188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9.123</a:t>
            </a:r>
            <a:endParaRPr lang="es-CL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8"/>
          <p:cNvSpPr/>
          <p:nvPr/>
        </p:nvSpPr>
        <p:spPr>
          <a:xfrm>
            <a:off x="9052560" y="185616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D8F7F8"/>
                </a:solidFill>
                <a:effectLst/>
                <a:uFillTx/>
                <a:latin typeface="Aptos"/>
              </a:rPr>
              <a:t>viviendas rurales censadas en Colina · Censo 2024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4"/>
          <p:cNvSpPr/>
          <p:nvPr/>
        </p:nvSpPr>
        <p:spPr>
          <a:xfrm>
            <a:off x="585360" y="6163200"/>
            <a:ext cx="11018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6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Fuentes: Municipalidad de Colina, PACCC 2025–2040; BCN/INE, Censo 2024; Municipalidad de Colina, 25-06-2025.</a:t>
            </a:r>
            <a:endParaRPr lang="es-CL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n 70"/>
          <p:cNvPicPr/>
          <p:nvPr/>
        </p:nvPicPr>
        <p:blipFill>
          <a:blip r:embed="rId3"/>
          <a:stretch/>
        </p:blipFill>
        <p:spPr>
          <a:xfrm>
            <a:off x="7391880" y="3096000"/>
            <a:ext cx="4799880" cy="360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67000" y="374760"/>
            <a:ext cx="5943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5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FRAMEWORK 6W</a:t>
            </a:r>
            <a:endParaRPr lang="es-C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67000" y="6473880"/>
            <a:ext cx="4114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TEI201 · Taller de Diseño en Ingeniería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8458200" y="6473880"/>
            <a:ext cx="29257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ODS 6 · Agua limpia y saneamiento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11475720" y="6473880"/>
            <a:ext cx="182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4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567000" y="694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Un problema específico, observable y coherente con el prototipo</a:t>
            </a:r>
            <a:endParaRPr lang="es-CL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585360" y="123444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19999"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676800" y="1700640"/>
            <a:ext cx="340128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877680" y="1901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6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QUIÉN</a:t>
            </a:r>
            <a:endParaRPr lang="es-CL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877680" y="223128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Familias de sectores rurales de Colina que usan pozos o norias para agua doméstica.</a:t>
            </a:r>
            <a:endParaRPr lang="es-CL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4453200" y="1700640"/>
            <a:ext cx="340128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4654440" y="1901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6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QUÉ</a:t>
            </a:r>
            <a:endParaRPr lang="es-CL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4654440" y="223128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La fuente no entrega por sí sola una lectura doméstica inmediata sobre desviaciones en parámetros básicos de la muestra.</a:t>
            </a:r>
            <a:endParaRPr lang="es-CL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8229600" y="1700640"/>
            <a:ext cx="340128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8430840" y="1901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6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DÓNDE</a:t>
            </a:r>
            <a:endParaRPr lang="es-CL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8430840" y="223128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Sectores rurales de Colina; foco inicial en zonas con alta concentración de viviendas rurales.</a:t>
            </a:r>
            <a:endParaRPr lang="es-CL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6"/>
          <p:cNvSpPr/>
          <p:nvPr/>
        </p:nvSpPr>
        <p:spPr>
          <a:xfrm>
            <a:off x="676800" y="3639240"/>
            <a:ext cx="3401280" cy="1535760"/>
          </a:xfrm>
          <a:prstGeom prst="roundRect">
            <a:avLst>
              <a:gd name="adj" fmla="val 5952"/>
            </a:avLst>
          </a:prstGeom>
          <a:solidFill>
            <a:srgbClr val="F2FAFB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877680" y="38404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6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CUÁNDO</a:t>
            </a:r>
            <a:endParaRPr lang="es-CL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877680" y="416952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Cuando extraen, almacenan o van a utilizar agua proveniente de su fuente autónoma.</a:t>
            </a:r>
            <a:endParaRPr lang="es-CL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9"/>
          <p:cNvSpPr/>
          <p:nvPr/>
        </p:nvSpPr>
        <p:spPr>
          <a:xfrm>
            <a:off x="4453200" y="3639240"/>
            <a:ext cx="3401280" cy="1535760"/>
          </a:xfrm>
          <a:prstGeom prst="roundRect">
            <a:avLst>
              <a:gd name="adj" fmla="val 5952"/>
            </a:avLst>
          </a:prstGeom>
          <a:solidFill>
            <a:srgbClr val="F2FAFB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4654440" y="38404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6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POR QUÉ</a:t>
            </a:r>
            <a:endParaRPr lang="es-CL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4654440" y="416952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La fuente no incorpora monitoreo doméstico y una evaluación completa requiere análisis especializados.</a:t>
            </a:r>
            <a:endParaRPr lang="es-CL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2"/>
          <p:cNvSpPr/>
          <p:nvPr/>
        </p:nvSpPr>
        <p:spPr>
          <a:xfrm>
            <a:off x="8229600" y="3639240"/>
            <a:ext cx="3401280" cy="1535760"/>
          </a:xfrm>
          <a:prstGeom prst="roundRect">
            <a:avLst>
              <a:gd name="adj" fmla="val 5952"/>
            </a:avLst>
          </a:prstGeom>
          <a:solidFill>
            <a:srgbClr val="F2FAFB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3"/>
          <p:cNvSpPr/>
          <p:nvPr/>
        </p:nvSpPr>
        <p:spPr>
          <a:xfrm>
            <a:off x="8430840" y="38404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6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CÓMO</a:t>
            </a:r>
            <a:endParaRPr lang="es-CL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8430840" y="416952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El usuario observa color/olor, pero no obtiene al instante información sobre pH, conductividad u otras variables medibles.</a:t>
            </a:r>
            <a:endParaRPr lang="es-CL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5"/>
          <p:cNvSpPr/>
          <p:nvPr/>
        </p:nvSpPr>
        <p:spPr>
          <a:xfrm>
            <a:off x="585360" y="6163200"/>
            <a:ext cx="11018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6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Framework 6W según pauta TEI201. Contexto territorial respaldado por PACCC Colina 2025–2040.</a:t>
            </a:r>
            <a:endParaRPr lang="es-CL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567000" y="374760"/>
            <a:ext cx="5943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5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USUARIOS Y CONTEXTO</a:t>
            </a:r>
            <a:endParaRPr lang="es-C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67000" y="6473880"/>
            <a:ext cx="4114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TEI201 · Taller de Diseño en Ingeniería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8458200" y="6473880"/>
            <a:ext cx="29257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ODS 6 · Agua limpia y saneamiento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11475720" y="6473880"/>
            <a:ext cx="182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5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567000" y="694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Una decisión doméstica, no una operación de laboratorio</a:t>
            </a:r>
            <a:endParaRPr lang="es-CL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/>
          <p:cNvPicPr/>
          <p:nvPr/>
        </p:nvPicPr>
        <p:blipFill>
          <a:blip r:embed="rId3"/>
          <a:stretch/>
        </p:blipFill>
        <p:spPr>
          <a:xfrm>
            <a:off x="658440" y="1664280"/>
            <a:ext cx="5623200" cy="420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Shape 7"/>
          <p:cNvSpPr/>
          <p:nvPr/>
        </p:nvSpPr>
        <p:spPr>
          <a:xfrm>
            <a:off x="6537960" y="1664280"/>
            <a:ext cx="495576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6876360" y="2057400"/>
            <a:ext cx="347040" cy="310680"/>
          </a:xfrm>
          <a:prstGeom prst="rect">
            <a:avLst/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7452360" y="208476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ENTENDER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8522280" y="2075760"/>
            <a:ext cx="251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9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Resultado simple, sin jerga técnica.</a:t>
            </a:r>
            <a:endParaRPr lang="es-CL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6876360" y="2825640"/>
            <a:ext cx="347040" cy="310680"/>
          </a:xfrm>
          <a:prstGeom prst="rect">
            <a:avLst/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7452360" y="285300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CONFIAR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8522280" y="2843640"/>
            <a:ext cx="251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9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Lectura repetible y explicación clara del límite.</a:t>
            </a:r>
            <a:endParaRPr lang="es-CL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6876360" y="3593520"/>
            <a:ext cx="347040" cy="310680"/>
          </a:xfrm>
          <a:prstGeom prst="rect">
            <a:avLst/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7452360" y="362088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ACTUAR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8522280" y="3611880"/>
            <a:ext cx="251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9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Recomendación según nivel de alerta.</a:t>
            </a:r>
            <a:endParaRPr lang="es-CL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6876360" y="4361760"/>
            <a:ext cx="347040" cy="310680"/>
          </a:xfrm>
          <a:prstGeom prst="rect">
            <a:avLst/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7452360" y="438912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LLEVAR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8522280" y="4380120"/>
            <a:ext cx="251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9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Equipo portátil, recargable y fácil de limpiar.</a:t>
            </a:r>
            <a:endParaRPr lang="es-CL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0"/>
          <p:cNvSpPr/>
          <p:nvPr/>
        </p:nvSpPr>
        <p:spPr>
          <a:xfrm>
            <a:off x="6876000" y="5303520"/>
            <a:ext cx="4114800" cy="0"/>
          </a:xfrm>
          <a:prstGeom prst="line">
            <a:avLst/>
          </a:prstGeom>
          <a:ln w="1260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t" anchorCtr="1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6876360" y="54864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80" b="1" u="none" strike="noStrike">
                <a:solidFill>
                  <a:srgbClr val="FF6F6F"/>
                </a:solidFill>
                <a:effectLst/>
                <a:uFillTx/>
                <a:latin typeface="Aptos"/>
              </a:rPr>
              <a:t>VALIDACIÓN PROPUESTA</a:t>
            </a:r>
            <a:endParaRPr lang="es-CL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2"/>
          <p:cNvSpPr/>
          <p:nvPr/>
        </p:nvSpPr>
        <p:spPr>
          <a:xfrm>
            <a:off x="8549640" y="544068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8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8–12 entrevistas a hogares rurales + prueba de comprensión del “semáforo”.</a:t>
            </a:r>
            <a:endParaRPr lang="es-CL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3"/>
          <p:cNvSpPr/>
          <p:nvPr/>
        </p:nvSpPr>
        <p:spPr>
          <a:xfrm>
            <a:off x="585360" y="6163200"/>
            <a:ext cx="11018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6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Usuario definido por el equipo a partir del problema territorial. La conducta y necesidad deben validarse con entrevistas.</a:t>
            </a:r>
            <a:endParaRPr lang="es-CL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67000" y="374760"/>
            <a:ext cx="5943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5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INVESTIGACIÓN</a:t>
            </a:r>
            <a:endParaRPr lang="es-C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567000" y="6473880"/>
            <a:ext cx="4114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TEI201 · Taller de Diseño en Ingeniería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8458200" y="6473880"/>
            <a:ext cx="29257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ODS 6 · Agua limpia y saneamiento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11475720" y="6473880"/>
            <a:ext cx="182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6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567000" y="694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pH y conductividad pueden alertar, pero no demuestran potabilidad</a:t>
            </a:r>
            <a:endParaRPr lang="es-CL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0"/>
          <p:cNvPicPr/>
          <p:nvPr/>
        </p:nvPicPr>
        <p:blipFill>
          <a:blip r:embed="rId3"/>
          <a:stretch/>
        </p:blipFill>
        <p:spPr>
          <a:xfrm>
            <a:off x="658440" y="1664280"/>
            <a:ext cx="5074560" cy="418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Shape 7"/>
          <p:cNvSpPr/>
          <p:nvPr/>
        </p:nvSpPr>
        <p:spPr>
          <a:xfrm>
            <a:off x="6016680" y="1664280"/>
            <a:ext cx="5467680" cy="4187520"/>
          </a:xfrm>
          <a:prstGeom prst="roundRect">
            <a:avLst>
              <a:gd name="adj" fmla="val 2183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6327720" y="194760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40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La evaluación real considera varias dimensiones</a:t>
            </a:r>
            <a:endParaRPr lang="es-C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6327720" y="2423160"/>
            <a:ext cx="255600" cy="255600"/>
          </a:xfrm>
          <a:prstGeom prst="ellipse">
            <a:avLst/>
          </a:prstGeom>
          <a:solidFill>
            <a:srgbClr val="FF6F6F"/>
          </a:solidFill>
          <a:ln w="12600">
            <a:solidFill>
              <a:srgbClr val="FF6F6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6784920" y="23958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Microbiológicos</a:t>
            </a:r>
            <a:endParaRPr lang="es-CL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8183880" y="239580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5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coliformes totales, E. coli</a:t>
            </a:r>
            <a:endParaRPr lang="es-C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2"/>
          <p:cNvSpPr/>
          <p:nvPr/>
        </p:nvSpPr>
        <p:spPr>
          <a:xfrm>
            <a:off x="6327720" y="3008520"/>
            <a:ext cx="255600" cy="255600"/>
          </a:xfrm>
          <a:prstGeom prst="ellipse">
            <a:avLst/>
          </a:prstGeom>
          <a:solidFill>
            <a:srgbClr val="FFD06B"/>
          </a:solidFill>
          <a:ln w="12600">
            <a:solidFill>
              <a:srgbClr val="FFD0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6784920" y="29808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Físicos</a:t>
            </a:r>
            <a:endParaRPr lang="es-CL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8183880" y="298080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5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turbiedad y propiedades organolépticas</a:t>
            </a:r>
            <a:endParaRPr lang="es-C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6327720" y="3593520"/>
            <a:ext cx="255600" cy="255600"/>
          </a:xfrm>
          <a:prstGeom prst="ellipse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6784920" y="35661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Químicos</a:t>
            </a:r>
            <a:endParaRPr lang="es-CL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8183880" y="356616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5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sustancias de importancia para la salud</a:t>
            </a:r>
            <a:endParaRPr lang="es-C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6327720" y="4178880"/>
            <a:ext cx="255600" cy="255600"/>
          </a:xfrm>
          <a:prstGeom prst="ellipse">
            <a:avLst/>
          </a:prstGeom>
          <a:solidFill>
            <a:srgbClr val="0B86B8"/>
          </a:solidFill>
          <a:ln w="12600">
            <a:solidFill>
              <a:srgbClr val="0B86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9"/>
          <p:cNvSpPr/>
          <p:nvPr/>
        </p:nvSpPr>
        <p:spPr>
          <a:xfrm>
            <a:off x="6784920" y="41515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1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Desinfección</a:t>
            </a:r>
            <a:endParaRPr lang="es-CL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8183880" y="415152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5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cloro libre residual</a:t>
            </a:r>
            <a:endParaRPr lang="es-C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1"/>
          <p:cNvSpPr/>
          <p:nvPr/>
        </p:nvSpPr>
        <p:spPr>
          <a:xfrm>
            <a:off x="6327720" y="4883040"/>
            <a:ext cx="4772880" cy="676440"/>
          </a:xfrm>
          <a:prstGeom prst="roundRect">
            <a:avLst>
              <a:gd name="adj" fmla="val 13514"/>
            </a:avLst>
          </a:prstGeom>
          <a:solidFill>
            <a:srgbClr val="0A4150"/>
          </a:solidFill>
          <a:ln w="10080">
            <a:solidFill>
              <a:srgbClr val="0A41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6565320" y="5065920"/>
            <a:ext cx="1444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30" b="1" u="none" strike="noStrike">
                <a:solidFill>
                  <a:srgbClr val="7BE0E7"/>
                </a:solidFill>
                <a:effectLst/>
                <a:uFillTx/>
                <a:latin typeface="Aptos"/>
              </a:rPr>
              <a:t>LÍMITE DEL PROTOTIPO</a:t>
            </a:r>
            <a:endParaRPr lang="es-CL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3"/>
          <p:cNvSpPr/>
          <p:nvPr/>
        </p:nvSpPr>
        <p:spPr>
          <a:xfrm>
            <a:off x="8119800" y="49834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2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“Semáforo de alerta”, no certificador de potabilidad.</a:t>
            </a:r>
            <a:endParaRPr lang="es-CL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585360" y="6163200"/>
            <a:ext cx="11018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6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Fuente: MOP + SISS, Estudio NCh 409 (2021): turbiedad/microbiología, químicos/organolépticos, desinfección y otros controles.</a:t>
            </a:r>
            <a:endParaRPr lang="es-CL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67000" y="374760"/>
            <a:ext cx="5943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5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CONCEPTO DE SOLUCIÓN</a:t>
            </a:r>
            <a:endParaRPr lang="es-C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567000" y="6473880"/>
            <a:ext cx="4114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TEI201 · Taller de Diseño en Ingeniería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8458200" y="6473880"/>
            <a:ext cx="29257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ODS 6 · Agua limpia y saneamiento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11475720" y="6473880"/>
            <a:ext cx="182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7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567000" y="694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Un dispositivo portátil transforma mediciones en una acción clara</a:t>
            </a:r>
            <a:endParaRPr lang="es-CL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585360" y="1234440"/>
            <a:ext cx="10789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7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Mantiene la idea original del equipo: Arduino + sensores + pantalla + batería.</a:t>
            </a:r>
            <a:endParaRPr lang="es-CL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/>
          <p:cNvPicPr/>
          <p:nvPr/>
        </p:nvPicPr>
        <p:blipFill>
          <a:blip r:embed="rId3"/>
          <a:stretch/>
        </p:blipFill>
        <p:spPr>
          <a:xfrm>
            <a:off x="658440" y="1664280"/>
            <a:ext cx="5166000" cy="413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Shape 7"/>
          <p:cNvSpPr/>
          <p:nvPr/>
        </p:nvSpPr>
        <p:spPr>
          <a:xfrm>
            <a:off x="6144840" y="1737360"/>
            <a:ext cx="510192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6382440" y="1901880"/>
            <a:ext cx="347040" cy="310680"/>
          </a:xfrm>
          <a:prstGeom prst="rect">
            <a:avLst/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6967800" y="188352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MUESTREAR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8183880" y="187452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7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agua del pozo / noria o agua almacenada</a:t>
            </a:r>
            <a:endParaRPr lang="es-CL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6144840" y="2615040"/>
            <a:ext cx="510192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6382440" y="2779920"/>
            <a:ext cx="347040" cy="310680"/>
          </a:xfrm>
          <a:prstGeom prst="rect">
            <a:avLst/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6967800" y="276156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MEDIR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8183880" y="275220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7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pH + conductividad</a:t>
            </a:r>
            <a:endParaRPr lang="es-CL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6144840" y="3493080"/>
            <a:ext cx="510192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6382440" y="3657600"/>
            <a:ext cx="347040" cy="310680"/>
          </a:xfrm>
          <a:prstGeom prst="rect">
            <a:avLst/>
          </a:prstGeom>
          <a:solidFill>
            <a:srgbClr val="18AEBB"/>
          </a:solidFill>
          <a:ln w="0">
            <a:solidFill>
              <a:srgbClr val="18AEB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6967800" y="363924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TRADUCIR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8183880" y="363024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7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sin desviación · repetir · alerta</a:t>
            </a:r>
            <a:endParaRPr lang="es-CL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6144840" y="4370760"/>
            <a:ext cx="510192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6382440" y="4535280"/>
            <a:ext cx="347040" cy="310680"/>
          </a:xfrm>
          <a:prstGeom prst="rect">
            <a:avLst/>
          </a:prstGeom>
          <a:solidFill>
            <a:srgbClr val="FF6F6F"/>
          </a:solidFill>
          <a:ln w="0">
            <a:solidFill>
              <a:srgbClr val="FF6F6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s-C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6967800" y="451728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ORIENTAR</a:t>
            </a:r>
            <a:endParaRPr lang="es-CL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2"/>
          <p:cNvSpPr/>
          <p:nvPr/>
        </p:nvSpPr>
        <p:spPr>
          <a:xfrm>
            <a:off x="8183880" y="450792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7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verificar / consultar / solicitar análisis</a:t>
            </a:r>
            <a:endParaRPr lang="es-CL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3"/>
          <p:cNvSpPr/>
          <p:nvPr/>
        </p:nvSpPr>
        <p:spPr>
          <a:xfrm>
            <a:off x="6144840" y="5394960"/>
            <a:ext cx="5101920" cy="438480"/>
          </a:xfrm>
          <a:prstGeom prst="roundRect">
            <a:avLst>
              <a:gd name="adj" fmla="val 20833"/>
            </a:avLst>
          </a:prstGeom>
          <a:solidFill>
            <a:srgbClr val="FFF1F1"/>
          </a:solidFill>
          <a:ln w="10080">
            <a:solidFill>
              <a:srgbClr val="FFD0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6373440" y="5532120"/>
            <a:ext cx="16912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>
                <a:solidFill>
                  <a:srgbClr val="FF6F6F"/>
                </a:solidFill>
                <a:effectLst/>
                <a:uFillTx/>
                <a:latin typeface="Aptos"/>
              </a:rPr>
              <a:t>NO CERTIFICA POTABILIDAD</a:t>
            </a:r>
            <a:endParaRPr lang="es-CL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8138160" y="5486400"/>
            <a:ext cx="2697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6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Detecta desviaciones en los parámetros medidos y orienta una respuesta.</a:t>
            </a:r>
            <a:endParaRPr lang="es-CL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18AEBB"/>
          </a:solidFill>
          <a:ln w="12600">
            <a:solidFill>
              <a:srgbClr val="18A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67000" y="374760"/>
            <a:ext cx="5943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85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VIABILIDAD E IMPLEMENTACIÓN</a:t>
            </a:r>
            <a:endParaRPr lang="es-C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567000" y="6473880"/>
            <a:ext cx="4114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TEI201 · Taller de Diseño en Ingeniería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8458200" y="6473880"/>
            <a:ext cx="29257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ODS 6 · Agua limpia y saneamiento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11475720" y="6473880"/>
            <a:ext cx="182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CL" sz="7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8</a:t>
            </a:r>
            <a:endParaRPr lang="es-CL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567000" y="694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255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De la hipótesis a un piloto responsable</a:t>
            </a:r>
            <a:endParaRPr lang="es-CL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658440" y="1664280"/>
            <a:ext cx="1919880" cy="184680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822960" y="18835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0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01</a:t>
            </a:r>
            <a:endParaRPr lang="es-C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822960" y="22860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30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VALIDAR</a:t>
            </a:r>
            <a:endParaRPr lang="es-C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822960" y="27158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3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Entrevistar hogares rurales y expertos.</a:t>
            </a:r>
            <a:endParaRPr lang="es-CL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2898720" y="1664280"/>
            <a:ext cx="1919880" cy="184680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3063240" y="18835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0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02</a:t>
            </a:r>
            <a:endParaRPr lang="es-C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3063240" y="22860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30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DEFINIR</a:t>
            </a:r>
            <a:endParaRPr lang="es-C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3063240" y="27158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3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Elegir parámetros y rangos de alerta.</a:t>
            </a:r>
            <a:endParaRPr lang="es-CL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5"/>
          <p:cNvSpPr/>
          <p:nvPr/>
        </p:nvSpPr>
        <p:spPr>
          <a:xfrm>
            <a:off x="5139000" y="1664280"/>
            <a:ext cx="1919880" cy="184680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5303520" y="18835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0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03</a:t>
            </a:r>
            <a:endParaRPr lang="es-C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5303520" y="22860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30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CALIBRAR</a:t>
            </a:r>
            <a:endParaRPr lang="es-C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5303520" y="27158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3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Comparar sensores con soluciones patrón.</a:t>
            </a:r>
            <a:endParaRPr lang="es-CL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7379280" y="1664280"/>
            <a:ext cx="1919880" cy="184680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7543800" y="18835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00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04</a:t>
            </a:r>
            <a:endParaRPr lang="es-C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7543800" y="22860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300" b="1" u="none" strike="noStrike">
                <a:solidFill>
                  <a:srgbClr val="0A4150"/>
                </a:solidFill>
                <a:effectLst/>
                <a:uFillTx/>
                <a:latin typeface="Aptos"/>
              </a:rPr>
              <a:t>PROBAR</a:t>
            </a:r>
            <a:endParaRPr lang="es-C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2"/>
          <p:cNvSpPr/>
          <p:nvPr/>
        </p:nvSpPr>
        <p:spPr>
          <a:xfrm>
            <a:off x="7543800" y="27158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3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Medir precisión, repetibilidad y comprensión.</a:t>
            </a:r>
            <a:endParaRPr lang="es-CL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3"/>
          <p:cNvSpPr/>
          <p:nvPr/>
        </p:nvSpPr>
        <p:spPr>
          <a:xfrm>
            <a:off x="9619560" y="1664280"/>
            <a:ext cx="1919880" cy="1846800"/>
          </a:xfrm>
          <a:prstGeom prst="roundRect">
            <a:avLst>
              <a:gd name="adj" fmla="val 4950"/>
            </a:avLst>
          </a:prstGeom>
          <a:solidFill>
            <a:srgbClr val="0A4150"/>
          </a:solidFill>
          <a:ln w="10080">
            <a:solidFill>
              <a:srgbClr val="0A41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9784080" y="18835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00" b="1" u="none" strike="noStrike">
                <a:solidFill>
                  <a:srgbClr val="7BE0E7"/>
                </a:solidFill>
                <a:effectLst/>
                <a:uFillTx/>
                <a:latin typeface="Aptos"/>
              </a:rPr>
              <a:t>05</a:t>
            </a:r>
            <a:endParaRPr lang="es-C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5"/>
          <p:cNvSpPr/>
          <p:nvPr/>
        </p:nvSpPr>
        <p:spPr>
          <a:xfrm>
            <a:off x="9784080" y="22860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PILOTO</a:t>
            </a:r>
            <a:endParaRPr lang="es-C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6"/>
          <p:cNvSpPr/>
          <p:nvPr/>
        </p:nvSpPr>
        <p:spPr>
          <a:xfrm>
            <a:off x="9784080" y="27158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30" b="0" u="none" strike="noStrike">
                <a:solidFill>
                  <a:srgbClr val="D8F7F8"/>
                </a:solidFill>
                <a:effectLst/>
                <a:uFillTx/>
                <a:latin typeface="Aptos"/>
              </a:rPr>
              <a:t>Uso acotado en una comunidad rural.</a:t>
            </a:r>
            <a:endParaRPr lang="es-CL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7"/>
          <p:cNvSpPr/>
          <p:nvPr/>
        </p:nvSpPr>
        <p:spPr>
          <a:xfrm>
            <a:off x="658440" y="3840480"/>
            <a:ext cx="6583320" cy="19929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8"/>
          <p:cNvSpPr/>
          <p:nvPr/>
        </p:nvSpPr>
        <p:spPr>
          <a:xfrm>
            <a:off x="914400" y="40964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39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¿POR QUÉ ESTA SOLUCIÓN?</a:t>
            </a:r>
            <a:endParaRPr lang="es-CL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9"/>
          <p:cNvSpPr/>
          <p:nvPr/>
        </p:nvSpPr>
        <p:spPr>
          <a:xfrm>
            <a:off x="914400" y="4498920"/>
            <a:ext cx="1234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39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Laboratorio</a:t>
            </a:r>
            <a:endParaRPr lang="es-CL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0"/>
          <p:cNvSpPr/>
          <p:nvPr/>
        </p:nvSpPr>
        <p:spPr>
          <a:xfrm>
            <a:off x="2331720" y="4498920"/>
            <a:ext cx="4343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Completo y confiable; requiere tiempo y acceso.</a:t>
            </a:r>
            <a:endParaRPr lang="es-CL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1"/>
          <p:cNvSpPr/>
          <p:nvPr/>
        </p:nvSpPr>
        <p:spPr>
          <a:xfrm>
            <a:off x="914400" y="4782240"/>
            <a:ext cx="1234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39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Medidor individual</a:t>
            </a:r>
            <a:endParaRPr lang="es-CL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2"/>
          <p:cNvSpPr/>
          <p:nvPr/>
        </p:nvSpPr>
        <p:spPr>
          <a:xfrm>
            <a:off x="2331720" y="4782240"/>
            <a:ext cx="4343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Rápido; entrega un número que el usuario debe interpretar.</a:t>
            </a:r>
            <a:endParaRPr lang="es-CL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3"/>
          <p:cNvSpPr/>
          <p:nvPr/>
        </p:nvSpPr>
        <p:spPr>
          <a:xfrm>
            <a:off x="914400" y="5065920"/>
            <a:ext cx="1234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39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Filtro doméstico</a:t>
            </a:r>
            <a:endParaRPr lang="es-CL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4"/>
          <p:cNvSpPr/>
          <p:nvPr/>
        </p:nvSpPr>
        <p:spPr>
          <a:xfrm>
            <a:off x="2331720" y="5065920"/>
            <a:ext cx="4343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Trata el agua; no necesariamente informa qué cambió en la muestra.</a:t>
            </a:r>
            <a:endParaRPr lang="es-CL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5"/>
          <p:cNvSpPr/>
          <p:nvPr/>
        </p:nvSpPr>
        <p:spPr>
          <a:xfrm>
            <a:off x="914400" y="5349240"/>
            <a:ext cx="1234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39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Agua Clara</a:t>
            </a:r>
            <a:endParaRPr lang="es-CL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2331720" y="5349240"/>
            <a:ext cx="4343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Reutilizable; traduce mediciones básicas a una acción comprensible.</a:t>
            </a:r>
            <a:endParaRPr lang="es-CL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7"/>
          <p:cNvSpPr/>
          <p:nvPr/>
        </p:nvSpPr>
        <p:spPr>
          <a:xfrm>
            <a:off x="7516440" y="3840480"/>
            <a:ext cx="3968280" cy="19929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0080">
            <a:solidFill>
              <a:srgbClr val="D7E5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8"/>
          <p:cNvSpPr/>
          <p:nvPr/>
        </p:nvSpPr>
        <p:spPr>
          <a:xfrm>
            <a:off x="7772400" y="409644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939" b="1" u="none" strike="noStrike">
                <a:solidFill>
                  <a:srgbClr val="18AEBB"/>
                </a:solidFill>
                <a:effectLst/>
                <a:uFillTx/>
                <a:latin typeface="Aptos"/>
              </a:rPr>
              <a:t>ACTORES CLAVE</a:t>
            </a:r>
            <a:endParaRPr lang="es-CL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9"/>
          <p:cNvSpPr/>
          <p:nvPr/>
        </p:nvSpPr>
        <p:spPr>
          <a:xfrm>
            <a:off x="7772400" y="4453200"/>
            <a:ext cx="3181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1080" b="1" u="none" strike="noStrike">
                <a:solidFill>
                  <a:srgbClr val="163843"/>
                </a:solidFill>
                <a:effectLst/>
                <a:uFillTx/>
                <a:latin typeface="Aptos"/>
              </a:rPr>
              <a:t>Hogares rurales · Municipalidad de Colina · Servicios Sanitarios Rurales · DOH/MOP · expertos y laboratorio de referencia.</a:t>
            </a:r>
            <a:endParaRPr lang="es-CL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1"/>
          <p:cNvSpPr/>
          <p:nvPr/>
        </p:nvSpPr>
        <p:spPr>
          <a:xfrm>
            <a:off x="585360" y="6163200"/>
            <a:ext cx="11018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L" sz="620" b="0" u="none" strike="noStrike">
                <a:solidFill>
                  <a:srgbClr val="5B737A"/>
                </a:solidFill>
                <a:effectLst/>
                <a:uFillTx/>
                <a:latin typeface="Aptos"/>
              </a:rPr>
              <a:t>Fuentes: PACCC Colina 2025–2040; Municipalidad de Colina (proyecto rural Colina–Tiltil, 2025); MOP/SISS NCh 409.</a:t>
            </a:r>
            <a:endParaRPr lang="es-CL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Microsoft Office PowerPoint</Application>
  <PresentationFormat>Panorámica</PresentationFormat>
  <Slides>8</Slides>
  <Notes>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Adolfo Ibáñez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Raimundo Liedloff</cp:lastModifiedBy>
  <cp:revision>1</cp:revision>
  <dcterms:modified xsi:type="dcterms:W3CDTF">2026-08-28T15:27:40Z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2026-08-27T02:37:04Z</dcterms:created>
  <dc:creator>OpenAI</dc:creator>
  <dc:description/>
  <dc:language>en-US</dc:language>
  <cp:lastModifiedBy/>
  <dcterms:modified xsi:type="dcterms:W3CDTF">2026-08-27T23:58:17Z</dcterms:modified>
  <cp:revision>2</cp:revision>
  <dc:subject>TEI201 Avance #1 - ODS 6</dc:subject>
  <dc:title>Agua Clara - Colina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8</vt:r8>
  </property>
  <property fmtid="{D5CDD505-2E9C-101B-9397-08002B2CF9AE}" pid="7" name="PresentationFormat">
    <vt:lpwstr>On-screen Show (16:9)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8</vt:r8>
  </property>
</Properties>
</file>